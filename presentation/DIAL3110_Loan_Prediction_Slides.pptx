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  <a:latin typeface="Arial Narrow"/>
              </a:rPr>
              <a:t>Loan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  <a:latin typeface="Arial Narrow"/>
              </a:rPr>
              <a:t>Motz Financial Services</a:t>
            </a:r>
          </a:p>
          <a:p>
            <a:r>
              <a:t>DIAL3110 - Fundamentals of Artificial Intelligence</a:t>
            </a:r>
          </a:p>
          <a:p>
            <a:r>
              <a:t>Group Assignment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rial Narrow"/>
              </a:defRPr>
            </a:pPr>
            <a:r>
              <a:t>Problem statement and objectives</a:t>
            </a:r>
          </a:p>
          <a:p>
            <a:pPr>
              <a:defRPr sz="1800">
                <a:latin typeface="Arial Narrow"/>
              </a:defRPr>
            </a:pPr>
            <a:r>
              <a:t>Data gathering and cleaning</a:t>
            </a:r>
          </a:p>
          <a:p>
            <a:pPr>
              <a:defRPr sz="1800">
                <a:latin typeface="Arial Narrow"/>
              </a:defRPr>
            </a:pPr>
            <a:r>
              <a:t>Data pre-processing and feature engineering</a:t>
            </a:r>
          </a:p>
          <a:p>
            <a:pPr>
              <a:defRPr sz="1800">
                <a:latin typeface="Arial Narrow"/>
              </a:defRPr>
            </a:pPr>
            <a:r>
              <a:t>Model determination, training and tuning</a:t>
            </a:r>
          </a:p>
          <a:p>
            <a:pPr>
              <a:defRPr sz="1800">
                <a:latin typeface="Arial Narrow"/>
              </a:defRPr>
            </a:pPr>
            <a:r>
              <a:t>Prediction dashboard</a:t>
            </a:r>
          </a:p>
          <a:p>
            <a:pPr>
              <a:defRPr sz="1800">
                <a:latin typeface="Arial Narrow"/>
              </a:defRPr>
            </a:pPr>
            <a:r>
              <a:t>Results: 83.5% accuracy, 0.763 ROC-AUC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rial Narrow"/>
              </a:defRPr>
            </a:pPr>
            <a:r>
              <a:t>Motz Financial Services assesses loans manually.</a:t>
            </a:r>
          </a:p>
          <a:p>
            <a:pPr>
              <a:defRPr sz="1800">
                <a:latin typeface="Arial Narrow"/>
              </a:defRPr>
            </a:pPr>
            <a:r>
              <a:t>Manual review is slow, subjective and inconsistent.</a:t>
            </a:r>
          </a:p>
          <a:p>
            <a:pPr>
              <a:defRPr sz="1800">
                <a:latin typeface="Arial Narrow"/>
              </a:defRPr>
            </a:pPr>
            <a:r>
              <a:t>Goal: predict loan approval (Y/N) from applicant data.</a:t>
            </a:r>
          </a:p>
          <a:p>
            <a:pPr>
              <a:defRPr sz="1800">
                <a:latin typeface="Arial Narrow"/>
              </a:defRPr>
            </a:pPr>
            <a:r>
              <a:t>Business value: faster, consistent, auditable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Step 1 - Data &amp; Missing Values</a:t>
            </a:r>
          </a:p>
        </p:txBody>
      </p:sp>
      <p:pic>
        <p:nvPicPr>
          <p:cNvPr id="3" name="Picture 2" descr="01_missing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80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latin typeface="Arial Narrow"/>
              </a:rPr>
              <a:t>Missing values are imputed: mode for categoricals, median for numerics.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Step 1 - Outlier Treatment</a:t>
            </a:r>
          </a:p>
        </p:txBody>
      </p:sp>
      <p:pic>
        <p:nvPicPr>
          <p:cNvPr id="3" name="Picture 2" descr="02_outliers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6551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latin typeface="Arial Narrow"/>
              </a:rPr>
              <a:t>IQR-detected outliers are winsorised at the fences (no records lost).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Data Visualisation - Distributions</a:t>
            </a:r>
          </a:p>
        </p:txBody>
      </p:sp>
      <p:pic>
        <p:nvPicPr>
          <p:cNvPr id="3" name="Picture 2" descr="03_featu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6551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latin typeface="Arial Narrow"/>
              </a:rPr>
              <a:t>Income variables are right-skewed; LoanAmount is log-transformed.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Data Visualisation - Correlations</a:t>
            </a:r>
          </a:p>
        </p:txBody>
      </p:sp>
      <p:pic>
        <p:nvPicPr>
          <p:cNvPr id="3" name="Picture 2" descr="04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latin typeface="Arial Narrow"/>
              </a:rPr>
              <a:t>Credit_History is the strongest signal (r = 0.461).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Data Visualisation - Target</a:t>
            </a:r>
          </a:p>
        </p:txBody>
      </p:sp>
      <p:pic>
        <p:nvPicPr>
          <p:cNvPr id="3" name="Picture 2" descr="05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660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latin typeface="Arial Narrow"/>
              </a:rPr>
              <a:t>Overall approval rate and its relation to property area.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Step 2 -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rial Narrow"/>
              </a:defRPr>
            </a:pPr>
            <a:r>
              <a:t>TotalIncome = ApplicantIncome + CoapplicantIncome</a:t>
            </a:r>
          </a:p>
          <a:p>
            <a:pPr>
              <a:defRPr sz="1800">
                <a:latin typeface="Arial Narrow"/>
              </a:defRPr>
            </a:pPr>
            <a:r>
              <a:t>LoanAmount_log = log1p(LoanAmount)  (skew reduced 0.85 -&gt; -0.36)</a:t>
            </a:r>
          </a:p>
          <a:p>
            <a:pPr>
              <a:defRPr sz="1800">
                <a:latin typeface="Arial Narrow"/>
              </a:defRPr>
            </a:pPr>
            <a:r>
              <a:t>EMI = LoanAmount / Loan_Amount_Term</a:t>
            </a:r>
          </a:p>
          <a:p>
            <a:pPr>
              <a:defRPr sz="1800">
                <a:latin typeface="Arial Narrow"/>
              </a:defRPr>
            </a:pPr>
            <a:r>
              <a:t>Income_to_Loan_Ratio = TotalIncome / LoanAmount</a:t>
            </a:r>
          </a:p>
          <a:p>
            <a:pPr>
              <a:defRPr sz="1800">
                <a:latin typeface="Arial Narrow"/>
              </a:defRPr>
            </a:pPr>
            <a:r>
              <a:t>One-hot encoding + standardisation inside a saved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Step 3 - Model Determination (5-fold CV)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411480">
                <a:tc>
                  <a:txBody>
                    <a:bodyPr/>
                    <a:lstStyle/>
                    <a:p>
                      <a:r>
                        <a:rPr b="1" sz="1400">
                          <a:latin typeface="Arial Narrow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latin typeface="Arial Narrow"/>
                        </a:rPr>
                        <a:t>CV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latin typeface="Arial Narrow"/>
                        </a:rPr>
                        <a:t>CV ROC-AUC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Soft Voting 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0.845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0.697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Stacking 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0.741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0.733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Support Vector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0.707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Gaussian 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0.741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0.685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0.683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K-Nearest Neighbours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0.690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0.662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Step 3 - Model Comparison</a:t>
            </a:r>
          </a:p>
        </p:txBody>
      </p:sp>
      <p:pic>
        <p:nvPicPr>
          <p:cNvPr id="3" name="Picture 2" descr="06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8501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latin typeface="Arial Narrow"/>
              </a:rPr>
              <a:t>Logistic regression wins on cross-validated accuracy.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Step 4 - Performance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</a:tblGrid>
              <a:tr h="685800">
                <a:tc>
                  <a:txBody>
                    <a:bodyPr/>
                    <a:lstStyle/>
                    <a:p>
                      <a:r>
                        <a:rPr b="1" sz="1400">
                          <a:latin typeface="Arial Narrow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latin typeface="Arial Narrow"/>
                        </a:rPr>
                        <a:t>Value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0.8350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0.8372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0.9664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0.8972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 Narrow"/>
                        </a:rPr>
                        <a:t>0.7627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Results - Confusion Matrix</a:t>
            </a:r>
          </a:p>
        </p:txBody>
      </p:sp>
      <p:pic>
        <p:nvPicPr>
          <p:cNvPr id="3" name="Picture 2" descr="07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6502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latin typeface="Arial Narrow"/>
              </a:rPr>
              <a:t>High recall: few creditworthy applicants are rejected.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Results - ROC Curve</a:t>
            </a:r>
          </a:p>
        </p:txBody>
      </p:sp>
      <p:pic>
        <p:nvPicPr>
          <p:cNvPr id="3" name="Picture 2" descr="08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852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latin typeface="Arial Narrow"/>
              </a:rPr>
              <a:t>ROC-AUC = 0.763.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Results - ROC &amp; Precision-Recall</a:t>
            </a:r>
          </a:p>
        </p:txBody>
      </p:sp>
      <p:pic>
        <p:nvPicPr>
          <p:cNvPr id="3" name="Picture 2" descr="11_precision_recall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852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latin typeface="Arial Narrow"/>
              </a:rPr>
              <a:t>Precision-recall trade-off on the positive class.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Results - Calibration</a:t>
            </a:r>
          </a:p>
        </p:txBody>
      </p:sp>
      <p:pic>
        <p:nvPicPr>
          <p:cNvPr id="3" name="Picture 2" descr="12_calibra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852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latin typeface="Arial Narrow"/>
              </a:rPr>
              <a:t>Predicted probabilities are reliable and well-calibrated.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Step 5 - Permutation Importance</a:t>
            </a:r>
          </a:p>
        </p:txBody>
      </p:sp>
      <p:pic>
        <p:nvPicPr>
          <p:cNvPr id="3" name="Picture 2" descr="09_permutation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latin typeface="Arial Narrow"/>
              </a:rPr>
              <a:t>Credit history dominates; the result is model-agnostic.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Explainable AI - Reason Codes</a:t>
            </a:r>
          </a:p>
        </p:txBody>
      </p:sp>
      <p:pic>
        <p:nvPicPr>
          <p:cNvPr id="3" name="Picture 2" descr="16_reason_codes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latin typeface="Arial Narrow"/>
              </a:rPr>
              <a:t>Every decision is decomposed into interpretable feature contributions.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Step 6 - Model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rial Narrow"/>
              </a:defRPr>
            </a:pPr>
            <a:r>
              <a:t>Grid search over 4 parameter combinations.</a:t>
            </a:r>
          </a:p>
          <a:p>
            <a:pPr>
              <a:defRPr sz="1800">
                <a:latin typeface="Arial Narrow"/>
              </a:defRPr>
            </a:pPr>
            <a:r>
              <a:t>Best parameters: {'clf__weights': [1, 1, 1]}</a:t>
            </a:r>
          </a:p>
          <a:p>
            <a:pPr>
              <a:defRPr sz="1800">
                <a:latin typeface="Arial Narrow"/>
              </a:defRPr>
            </a:pPr>
            <a:r>
              <a:t>Final: 83.5% accuracy, 0.897 F1, 0.763 ROC-AUC.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Step 7 - Cost-Optimal Threshold</a:t>
            </a:r>
          </a:p>
        </p:txBody>
      </p:sp>
      <p:pic>
        <p:nvPicPr>
          <p:cNvPr id="3" name="Picture 2" descr="14_threshold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latin typeface="Arial Narrow"/>
              </a:rPr>
              <a:t>Cost ratio 5.0:1.0 -&gt; optimal cut-off 0.27.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Diagnostics - Learning Curve</a:t>
            </a:r>
          </a:p>
        </p:txBody>
      </p:sp>
      <p:pic>
        <p:nvPicPr>
          <p:cNvPr id="3" name="Picture 2" descr="15_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latin typeface="Arial Narrow"/>
              </a:rPr>
              <a:t>No over-fitting: train and validation curves converge.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Step 7 - Prediction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rial Narrow"/>
              </a:defRPr>
            </a:pPr>
            <a:r>
              <a:t>Streamlit app with four views.</a:t>
            </a:r>
          </a:p>
          <a:p>
            <a:pPr>
              <a:defRPr sz="1800">
                <a:latin typeface="Arial Narrow"/>
              </a:defRPr>
            </a:pPr>
            <a:r>
              <a:t>Single-applicant prediction with live probability.</a:t>
            </a:r>
          </a:p>
          <a:p>
            <a:pPr>
              <a:defRPr sz="1800">
                <a:latin typeface="Arial Narrow"/>
              </a:defRPr>
            </a:pPr>
            <a:r>
              <a:t>Batch scoring of out-of-sample CSV files.</a:t>
            </a:r>
          </a:p>
          <a:p>
            <a:pPr>
              <a:defRPr sz="1800">
                <a:latin typeface="Arial Narrow"/>
              </a:defRPr>
            </a:pPr>
            <a:r>
              <a:t>Data insights and model-performance views.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B57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rial Narrow"/>
              </a:defRPr>
            </a:pPr>
            <a:r>
              <a:t>Complete, reproducible ML system delivered.</a:t>
            </a:r>
          </a:p>
          <a:p>
            <a:pPr>
              <a:defRPr sz="1800">
                <a:latin typeface="Arial Narrow"/>
              </a:defRPr>
            </a:pPr>
            <a:r>
              <a:t>Logistic regression: 83.5% accuracy on unseen data.</a:t>
            </a:r>
          </a:p>
          <a:p>
            <a:pPr>
              <a:defRPr sz="1800">
                <a:latin typeface="Arial Narrow"/>
              </a:defRPr>
            </a:pPr>
            <a:r>
              <a:t>Credit history is the dominant predictor.</a:t>
            </a:r>
          </a:p>
          <a:p>
            <a:pPr>
              <a:defRPr sz="1800">
                <a:latin typeface="Arial Narrow"/>
              </a:defRPr>
            </a:pPr>
            <a:r>
              <a:t>Ready for production as a decision-support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